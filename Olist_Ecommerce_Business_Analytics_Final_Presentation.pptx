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10073-E98F-489E-A741-6E9AF8FDE00D}" v="14" dt="2026-09-20T17:02:16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l Singh Rawat" userId="a600bc7162ca8a2b" providerId="LiveId" clId="{C41B3B8C-D515-459F-84FF-9F2930DD582F}"/>
    <pc:docChg chg="modSld">
      <pc:chgData name="Sahil Singh Rawat" userId="a600bc7162ca8a2b" providerId="LiveId" clId="{C41B3B8C-D515-459F-84FF-9F2930DD582F}" dt="2026-09-20T17:02:36.178" v="63" actId="20577"/>
      <pc:docMkLst>
        <pc:docMk/>
      </pc:docMkLst>
      <pc:sldChg chg="delSp modSp mod">
        <pc:chgData name="Sahil Singh Rawat" userId="a600bc7162ca8a2b" providerId="LiveId" clId="{C41B3B8C-D515-459F-84FF-9F2930DD582F}" dt="2026-09-20T17:02:36.178" v="63" actId="20577"/>
        <pc:sldMkLst>
          <pc:docMk/>
          <pc:sldMk cId="0" sldId="256"/>
        </pc:sldMkLst>
        <pc:spChg chg="mod">
          <ac:chgData name="Sahil Singh Rawat" userId="a600bc7162ca8a2b" providerId="LiveId" clId="{C41B3B8C-D515-459F-84FF-9F2930DD582F}" dt="2026-09-20T17:02:36.178" v="6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hil Singh Rawat" userId="a600bc7162ca8a2b" providerId="LiveId" clId="{C41B3B8C-D515-459F-84FF-9F2930DD582F}" dt="2026-09-20T17:02:27.007" v="62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ahil Singh Rawat" userId="a600bc7162ca8a2b" providerId="LiveId" clId="{C41B3B8C-D515-459F-84FF-9F2930DD582F}" dt="2026-09-20T16:55:40.039" v="5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5:45.817" v="8"/>
        <pc:sldMkLst>
          <pc:docMk/>
          <pc:sldMk cId="0" sldId="257"/>
        </pc:sldMkLst>
        <pc:spChg chg="del mod">
          <ac:chgData name="Sahil Singh Rawat" userId="a600bc7162ca8a2b" providerId="LiveId" clId="{C41B3B8C-D515-459F-84FF-9F2930DD582F}" dt="2026-09-20T16:55:45.817" v="8"/>
          <ac:spMkLst>
            <pc:docMk/>
            <pc:sldMk cId="0" sldId="257"/>
            <ac:spMk id="5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5:49.237" v="11"/>
        <pc:sldMkLst>
          <pc:docMk/>
          <pc:sldMk cId="0" sldId="258"/>
        </pc:sldMkLst>
        <pc:spChg chg="del mod">
          <ac:chgData name="Sahil Singh Rawat" userId="a600bc7162ca8a2b" providerId="LiveId" clId="{C41B3B8C-D515-459F-84FF-9F2930DD582F}" dt="2026-09-20T16:55:49.237" v="11"/>
          <ac:spMkLst>
            <pc:docMk/>
            <pc:sldMk cId="0" sldId="258"/>
            <ac:spMk id="8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7:00:57.107" v="48" actId="20577"/>
        <pc:sldMkLst>
          <pc:docMk/>
          <pc:sldMk cId="0" sldId="259"/>
        </pc:sldMkLst>
        <pc:spChg chg="mod">
          <ac:chgData name="Sahil Singh Rawat" userId="a600bc7162ca8a2b" providerId="LiveId" clId="{C41B3B8C-D515-459F-84FF-9F2930DD582F}" dt="2026-09-20T17:00:57.107" v="48" actId="20577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Sahil Singh Rawat" userId="a600bc7162ca8a2b" providerId="LiveId" clId="{C41B3B8C-D515-459F-84FF-9F2930DD582F}" dt="2026-09-20T16:55:53.084" v="14"/>
          <ac:spMkLst>
            <pc:docMk/>
            <pc:sldMk cId="0" sldId="259"/>
            <ac:spMk id="11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5:58.222" v="17"/>
        <pc:sldMkLst>
          <pc:docMk/>
          <pc:sldMk cId="0" sldId="260"/>
        </pc:sldMkLst>
        <pc:spChg chg="del mod">
          <ac:chgData name="Sahil Singh Rawat" userId="a600bc7162ca8a2b" providerId="LiveId" clId="{C41B3B8C-D515-459F-84FF-9F2930DD582F}" dt="2026-09-20T16:55:58.222" v="17"/>
          <ac:spMkLst>
            <pc:docMk/>
            <pc:sldMk cId="0" sldId="260"/>
            <ac:spMk id="12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02.794" v="21"/>
        <pc:sldMkLst>
          <pc:docMk/>
          <pc:sldMk cId="0" sldId="261"/>
        </pc:sldMkLst>
        <pc:spChg chg="del mod">
          <ac:chgData name="Sahil Singh Rawat" userId="a600bc7162ca8a2b" providerId="LiveId" clId="{C41B3B8C-D515-459F-84FF-9F2930DD582F}" dt="2026-09-20T16:56:02.794" v="21"/>
          <ac:spMkLst>
            <pc:docMk/>
            <pc:sldMk cId="0" sldId="261"/>
            <ac:spMk id="6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10.010" v="24"/>
        <pc:sldMkLst>
          <pc:docMk/>
          <pc:sldMk cId="0" sldId="262"/>
        </pc:sldMkLst>
        <pc:spChg chg="del mod">
          <ac:chgData name="Sahil Singh Rawat" userId="a600bc7162ca8a2b" providerId="LiveId" clId="{C41B3B8C-D515-459F-84FF-9F2930DD582F}" dt="2026-09-20T16:56:10.010" v="24"/>
          <ac:spMkLst>
            <pc:docMk/>
            <pc:sldMk cId="0" sldId="262"/>
            <ac:spMk id="8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5:27.285" v="2"/>
        <pc:sldMkLst>
          <pc:docMk/>
          <pc:sldMk cId="0" sldId="263"/>
        </pc:sldMkLst>
        <pc:spChg chg="del mod">
          <ac:chgData name="Sahil Singh Rawat" userId="a600bc7162ca8a2b" providerId="LiveId" clId="{C41B3B8C-D515-459F-84FF-9F2930DD582F}" dt="2026-09-20T16:55:27.285" v="2"/>
          <ac:spMkLst>
            <pc:docMk/>
            <pc:sldMk cId="0" sldId="263"/>
            <ac:spMk id="8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15.528" v="27"/>
        <pc:sldMkLst>
          <pc:docMk/>
          <pc:sldMk cId="0" sldId="264"/>
        </pc:sldMkLst>
        <pc:spChg chg="del mod">
          <ac:chgData name="Sahil Singh Rawat" userId="a600bc7162ca8a2b" providerId="LiveId" clId="{C41B3B8C-D515-459F-84FF-9F2930DD582F}" dt="2026-09-20T16:56:15.528" v="27"/>
          <ac:spMkLst>
            <pc:docMk/>
            <pc:sldMk cId="0" sldId="264"/>
            <ac:spMk id="8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23.158" v="30"/>
        <pc:sldMkLst>
          <pc:docMk/>
          <pc:sldMk cId="0" sldId="265"/>
        </pc:sldMkLst>
        <pc:spChg chg="del mod">
          <ac:chgData name="Sahil Singh Rawat" userId="a600bc7162ca8a2b" providerId="LiveId" clId="{C41B3B8C-D515-459F-84FF-9F2930DD582F}" dt="2026-09-20T16:56:23.158" v="30"/>
          <ac:spMkLst>
            <pc:docMk/>
            <pc:sldMk cId="0" sldId="265"/>
            <ac:spMk id="8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28.048" v="33"/>
        <pc:sldMkLst>
          <pc:docMk/>
          <pc:sldMk cId="0" sldId="266"/>
        </pc:sldMkLst>
        <pc:spChg chg="del mod">
          <ac:chgData name="Sahil Singh Rawat" userId="a600bc7162ca8a2b" providerId="LiveId" clId="{C41B3B8C-D515-459F-84FF-9F2930DD582F}" dt="2026-09-20T16:56:28.048" v="33"/>
          <ac:spMkLst>
            <pc:docMk/>
            <pc:sldMk cId="0" sldId="266"/>
            <ac:spMk id="5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35.115" v="37"/>
        <pc:sldMkLst>
          <pc:docMk/>
          <pc:sldMk cId="0" sldId="267"/>
        </pc:sldMkLst>
        <pc:spChg chg="del mod">
          <ac:chgData name="Sahil Singh Rawat" userId="a600bc7162ca8a2b" providerId="LiveId" clId="{C41B3B8C-D515-459F-84FF-9F2930DD582F}" dt="2026-09-20T16:56:35.115" v="37"/>
          <ac:spMkLst>
            <pc:docMk/>
            <pc:sldMk cId="0" sldId="267"/>
            <ac:spMk id="8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38.834" v="40"/>
        <pc:sldMkLst>
          <pc:docMk/>
          <pc:sldMk cId="0" sldId="268"/>
        </pc:sldMkLst>
        <pc:spChg chg="del mod">
          <ac:chgData name="Sahil Singh Rawat" userId="a600bc7162ca8a2b" providerId="LiveId" clId="{C41B3B8C-D515-459F-84FF-9F2930DD582F}" dt="2026-09-20T16:56:38.834" v="40"/>
          <ac:spMkLst>
            <pc:docMk/>
            <pc:sldMk cId="0" sldId="268"/>
            <ac:spMk id="8" creationId="{00000000-0000-0000-0000-000000000000}"/>
          </ac:spMkLst>
        </pc:spChg>
      </pc:sldChg>
      <pc:sldChg chg="delSp modSp mod">
        <pc:chgData name="Sahil Singh Rawat" userId="a600bc7162ca8a2b" providerId="LiveId" clId="{C41B3B8C-D515-459F-84FF-9F2930DD582F}" dt="2026-09-20T16:56:42.414" v="43"/>
        <pc:sldMkLst>
          <pc:docMk/>
          <pc:sldMk cId="0" sldId="269"/>
        </pc:sldMkLst>
        <pc:spChg chg="del mod">
          <ac:chgData name="Sahil Singh Rawat" userId="a600bc7162ca8a2b" providerId="LiveId" clId="{C41B3B8C-D515-459F-84FF-9F2930DD582F}" dt="2026-09-20T16:56:42.414" v="43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Sahil Singh Rawat" userId="a600bc7162ca8a2b" providerId="LiveId" clId="{C41B3B8C-D515-459F-84FF-9F2930DD582F}" dt="2026-09-20T16:59:07.999" v="45" actId="14100"/>
        <pc:sldMkLst>
          <pc:docMk/>
          <pc:sldMk cId="1811110407" sldId="270"/>
        </pc:sldMkLst>
        <pc:spChg chg="mod">
          <ac:chgData name="Sahil Singh Rawat" userId="a600bc7162ca8a2b" providerId="LiveId" clId="{C41B3B8C-D515-459F-84FF-9F2930DD582F}" dt="2026-09-20T16:59:07.999" v="45" actId="14100"/>
          <ac:spMkLst>
            <pc:docMk/>
            <pc:sldMk cId="1811110407" sldId="270"/>
            <ac:spMk id="12" creationId="{1776C896-EA84-7E83-1556-3510679A99A8}"/>
          </ac:spMkLst>
        </pc:spChg>
      </pc:sldChg>
      <pc:sldChg chg="modSp mod">
        <pc:chgData name="Sahil Singh Rawat" userId="a600bc7162ca8a2b" providerId="LiveId" clId="{C41B3B8C-D515-459F-84FF-9F2930DD582F}" dt="2026-09-20T16:59:33.576" v="46" actId="1076"/>
        <pc:sldMkLst>
          <pc:docMk/>
          <pc:sldMk cId="1951951317" sldId="273"/>
        </pc:sldMkLst>
        <pc:spChg chg="mod">
          <ac:chgData name="Sahil Singh Rawat" userId="a600bc7162ca8a2b" providerId="LiveId" clId="{C41B3B8C-D515-459F-84FF-9F2930DD582F}" dt="2026-09-20T16:59:33.576" v="46" actId="1076"/>
          <ac:spMkLst>
            <pc:docMk/>
            <pc:sldMk cId="1951951317" sldId="273"/>
            <ac:spMk id="10" creationId="{8BE51D0F-69AE-2EF1-F87B-EEE3BF37825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Sep-16</c:v>
                </c:pt>
                <c:pt idx="1">
                  <c:v>Oct-16</c:v>
                </c:pt>
                <c:pt idx="2">
                  <c:v>Dec-16</c:v>
                </c:pt>
                <c:pt idx="3">
                  <c:v>Jan-17</c:v>
                </c:pt>
                <c:pt idx="4">
                  <c:v>Feb-17</c:v>
                </c:pt>
                <c:pt idx="5">
                  <c:v>Mar-17</c:v>
                </c:pt>
                <c:pt idx="6">
                  <c:v>Apr-17</c:v>
                </c:pt>
                <c:pt idx="7">
                  <c:v>May-17</c:v>
                </c:pt>
                <c:pt idx="8">
                  <c:v>Jun-17</c:v>
                </c:pt>
                <c:pt idx="9">
                  <c:v>Jul-17</c:v>
                </c:pt>
                <c:pt idx="10">
                  <c:v>Aug-17</c:v>
                </c:pt>
                <c:pt idx="11">
                  <c:v>Sep-17</c:v>
                </c:pt>
                <c:pt idx="12">
                  <c:v>Oct-17</c:v>
                </c:pt>
                <c:pt idx="13">
                  <c:v>Nov-17</c:v>
                </c:pt>
                <c:pt idx="14">
                  <c:v>Dec-17</c:v>
                </c:pt>
                <c:pt idx="15">
                  <c:v>Jan-18</c:v>
                </c:pt>
                <c:pt idx="16">
                  <c:v>Feb-18</c:v>
                </c:pt>
                <c:pt idx="17">
                  <c:v>Mar-18</c:v>
                </c:pt>
                <c:pt idx="18">
                  <c:v>Apr-18</c:v>
                </c:pt>
                <c:pt idx="19">
                  <c:v>May-18</c:v>
                </c:pt>
                <c:pt idx="20">
                  <c:v>Jun-18</c:v>
                </c:pt>
                <c:pt idx="21">
                  <c:v>Jul-18</c:v>
                </c:pt>
                <c:pt idx="22">
                  <c:v>Aug-18</c:v>
                </c:pt>
                <c:pt idx="23">
                  <c:v>Sep-18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9268</c:v>
                </c:pt>
                <c:pt idx="1">
                  <c:v>49530</c:v>
                </c:pt>
                <c:pt idx="2">
                  <c:v>11</c:v>
                </c:pt>
                <c:pt idx="3">
                  <c:v>120379</c:v>
                </c:pt>
                <c:pt idx="4">
                  <c:v>247419</c:v>
                </c:pt>
                <c:pt idx="5">
                  <c:v>374508</c:v>
                </c:pt>
                <c:pt idx="6">
                  <c:v>360081</c:v>
                </c:pt>
                <c:pt idx="7">
                  <c:v>506331</c:v>
                </c:pt>
                <c:pt idx="8">
                  <c:v>433261</c:v>
                </c:pt>
                <c:pt idx="9">
                  <c:v>498268</c:v>
                </c:pt>
                <c:pt idx="10">
                  <c:v>574239</c:v>
                </c:pt>
                <c:pt idx="11">
                  <c:v>624623</c:v>
                </c:pt>
                <c:pt idx="12">
                  <c:v>664479</c:v>
                </c:pt>
                <c:pt idx="13">
                  <c:v>1010705</c:v>
                </c:pt>
                <c:pt idx="14">
                  <c:v>744212</c:v>
                </c:pt>
                <c:pt idx="15">
                  <c:v>950434</c:v>
                </c:pt>
                <c:pt idx="16">
                  <c:v>844525</c:v>
                </c:pt>
                <c:pt idx="17">
                  <c:v>983598</c:v>
                </c:pt>
                <c:pt idx="18">
                  <c:v>996982</c:v>
                </c:pt>
                <c:pt idx="19">
                  <c:v>996839</c:v>
                </c:pt>
                <c:pt idx="20">
                  <c:v>865403</c:v>
                </c:pt>
                <c:pt idx="21">
                  <c:v>895778</c:v>
                </c:pt>
                <c:pt idx="22">
                  <c:v>854971</c:v>
                </c:pt>
                <c:pt idx="23">
                  <c:v>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D2-423D-8563-0001CF489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6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0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2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3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6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5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7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1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5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40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6004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70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94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25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11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1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565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1774" y="1463040"/>
            <a:ext cx="8997976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rPr dirty="0" err="1"/>
              <a:t>Olist</a:t>
            </a:r>
            <a:r>
              <a:rPr dirty="0"/>
              <a:t> E-Commerce Business Analytics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/ Data </a:t>
            </a:r>
            <a:r>
              <a:rPr lang="en-IN" dirty="0"/>
              <a:t> Analytics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88720" y="2825502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/>
            </a:pPr>
            <a:r>
              <a:t>Business Performance Analysis using SQL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/>
            </a:pPr>
            <a:r>
              <a:t>Sales • Customers • Products &amp; Sellers • Delivery •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Turning transactional data into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Olist needs a clear view of sales performance, customer behavior and operational efficiency.</a:t>
            </a:r>
          </a:p>
          <a:p>
            <a:pPr>
              <a:spcAft>
                <a:spcPts val="900"/>
              </a:spcAft>
              <a:defRPr sz="1800"/>
            </a:pPr>
            <a:r>
              <a:t>Management needs to understand delivery reliability and its relationship with customer satisfaction.</a:t>
            </a:r>
          </a:p>
          <a:p>
            <a:pPr>
              <a:spcAft>
                <a:spcPts val="900"/>
              </a:spcAft>
              <a:defRPr sz="1800"/>
            </a:pPr>
            <a:r>
              <a:t>SQL analysis converts raw transactions into KPIs, trends, segment-level findings and business actions.</a:t>
            </a:r>
          </a:p>
          <a:p>
            <a:pPr>
              <a:spcAft>
                <a:spcPts val="900"/>
              </a:spcAft>
              <a:defRPr sz="1800"/>
            </a:pPr>
            <a:r>
              <a:t>Objective: identify performance strengths, operational gaps and areas for deeper investigation.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2. Dataset &amp; Analytical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Olist Brazilian E-Commerce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Analysis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9 relational tables covering customers, orders, order items, products, sellers, payments, reviews and geolocation.</a:t>
            </a:r>
          </a:p>
          <a:p>
            <a:pPr>
              <a:spcAft>
                <a:spcPts val="900"/>
              </a:spcAft>
              <a:defRPr sz="1400"/>
            </a:pPr>
            <a:r>
              <a:t>~100K orders in the dataset.</a:t>
            </a:r>
          </a:p>
          <a:p>
            <a:pPr>
              <a:spcAft>
                <a:spcPts val="900"/>
              </a:spcAft>
              <a:defRPr sz="1400"/>
            </a:pPr>
            <a:r>
              <a:t>Analysis period: 2016–2018.</a:t>
            </a:r>
          </a:p>
          <a:p>
            <a:pPr>
              <a:spcAft>
                <a:spcPts val="900"/>
              </a:spcAft>
              <a:defRPr sz="1400"/>
            </a:pPr>
            <a:r>
              <a:t>SQL environment: Microsoft SQL Server / SSMS.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Sales performance</a:t>
            </a:r>
          </a:p>
          <a:p>
            <a:pPr>
              <a:spcAft>
                <a:spcPts val="900"/>
              </a:spcAft>
              <a:defRPr sz="1400"/>
            </a:pPr>
            <a:r>
              <a:t>Customer analytics</a:t>
            </a:r>
          </a:p>
          <a:p>
            <a:pPr>
              <a:spcAft>
                <a:spcPts val="900"/>
              </a:spcAft>
              <a:defRPr sz="1400"/>
            </a:pPr>
            <a:r>
              <a:t>Product &amp; seller performance</a:t>
            </a:r>
          </a:p>
          <a:p>
            <a:pPr>
              <a:spcAft>
                <a:spcPts val="900"/>
              </a:spcAft>
              <a:defRPr sz="1400"/>
            </a:pPr>
            <a:r>
              <a:t>Delivery operations</a:t>
            </a:r>
          </a:p>
          <a:p>
            <a:pPr>
              <a:spcAft>
                <a:spcPts val="900"/>
              </a:spcAft>
              <a:defRPr sz="1400"/>
            </a:pPr>
            <a:r>
              <a:t>Customer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Key relationships used in the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Order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566160"/>
            <a:ext cx="20116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566160"/>
            <a:ext cx="201168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Sellers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566160"/>
            <a:ext cx="22860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565" y="4862259"/>
            <a:ext cx="1054006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Modeling note: </a:t>
            </a:r>
            <a:r>
              <a:rPr dirty="0" err="1"/>
              <a:t>customer_unique_id</a:t>
            </a:r>
            <a:r>
              <a:rPr dirty="0"/>
              <a:t> was used for unique/repeat customer analysis because </a:t>
            </a:r>
            <a:r>
              <a:rPr dirty="0" err="1"/>
              <a:t>customer_id</a:t>
            </a:r>
            <a:r>
              <a:rPr dirty="0"/>
              <a:t> can represent </a:t>
            </a:r>
            <a:r>
              <a:t>multiple </a:t>
            </a:r>
            <a:br>
              <a:rPr lang="en-US"/>
            </a:br>
            <a:r>
              <a:t>order</a:t>
            </a:r>
            <a:r>
              <a:rPr dirty="0"/>
              <a:t>/address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4. Executive KPI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Headline metrics from the SQL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R$13.59M</a:t>
            </a:r>
          </a:p>
          <a:p>
            <a:pPr algn="ctr">
              <a:defRPr sz="1000"/>
            </a:pPr>
            <a:r>
              <a:t>Total product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417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98,666</a:t>
            </a:r>
          </a:p>
          <a:p>
            <a:pPr algn="ctr">
              <a:defRPr sz="1000"/>
            </a:pPr>
            <a:r>
              <a:t>Unique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417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96,096</a:t>
            </a:r>
          </a:p>
          <a:p>
            <a:pPr algn="ctr">
              <a:defRPr sz="1000"/>
            </a:pPr>
            <a:r>
              <a:t>Unique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R$137.70</a:t>
            </a:r>
          </a:p>
          <a:p>
            <a:pPr algn="ctr">
              <a:defRPr sz="1000"/>
            </a:pPr>
            <a:r>
              <a:t>Average order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12 days</a:t>
            </a:r>
          </a:p>
          <a:p>
            <a:pPr algn="ctr">
              <a:defRPr sz="1000"/>
            </a:pPr>
            <a:r>
              <a:t>Average delivery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703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8.11%</a:t>
            </a:r>
          </a:p>
          <a:p>
            <a:pPr algn="ctr">
              <a:defRPr sz="1000"/>
            </a:pPr>
            <a:r>
              <a:t>Late delivery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703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4 / 5</a:t>
            </a:r>
          </a:p>
          <a:p>
            <a:pPr algn="ctr">
              <a:defRPr sz="1000"/>
            </a:pPr>
            <a:r>
              <a:t>Average review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703320"/>
            <a:ext cx="2240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2,997</a:t>
            </a:r>
          </a:p>
          <a:p>
            <a:pPr algn="ctr">
              <a:defRPr sz="1000"/>
            </a:pPr>
            <a:r>
              <a:t>Repeat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Key findings from Q1–Q8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4173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50876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/>
            </a:pPr>
            <a:r>
              <a:t>2017 is the only complete calendar year; 2016 and 2018 are partial periods.</a:t>
            </a:r>
          </a:p>
          <a:p>
            <a:pPr>
              <a:spcAft>
                <a:spcPts val="900"/>
              </a:spcAft>
              <a:defRPr sz="1300"/>
            </a:pPr>
            <a:r>
              <a:t>November 2017 was the highest observed month at ~R$1.01M.</a:t>
            </a:r>
          </a:p>
          <a:p>
            <a:pPr>
              <a:spcAft>
                <a:spcPts val="900"/>
              </a:spcAft>
              <a:defRPr sz="1300"/>
            </a:pPr>
            <a:r>
              <a:t>Top categories include beleza_saude, relogios_presentes, cama_mesa_banho, esporte_lazer and informatica_acessorios.</a:t>
            </a:r>
          </a:p>
          <a:p>
            <a:pPr>
              <a:spcAft>
                <a:spcPts val="900"/>
              </a:spcAft>
              <a:defRPr sz="1300"/>
            </a:pPr>
            <a:r>
              <a:t>State-level analysis identifies geographic sales concentration.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6. 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Customer base, repeat behavior and value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Business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96,096 unique customers.</a:t>
            </a:r>
          </a:p>
          <a:p>
            <a:pPr>
              <a:spcAft>
                <a:spcPts val="900"/>
              </a:spcAft>
              <a:defRPr sz="1400"/>
            </a:pPr>
            <a:r>
              <a:t>2,997 customers placed more than one order.</a:t>
            </a:r>
          </a:p>
          <a:p>
            <a:pPr>
              <a:spcAft>
                <a:spcPts val="900"/>
              </a:spcAft>
              <a:defRPr sz="1400"/>
            </a:pPr>
            <a:r>
              <a:t>High-value customer analysis identified customers with the largest cumulative product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Repeat-customer base is much smaller than the total customer base.</a:t>
            </a:r>
          </a:p>
          <a:p>
            <a:pPr>
              <a:spcAft>
                <a:spcPts val="900"/>
              </a:spcAft>
              <a:defRPr sz="1400"/>
            </a:pPr>
            <a:r>
              <a:t>Retention and repeat-purchase programs are an area for further investigation.</a:t>
            </a:r>
          </a:p>
          <a:p>
            <a:pPr>
              <a:spcAft>
                <a:spcPts val="900"/>
              </a:spcAft>
              <a:defRPr sz="1400"/>
            </a:pPr>
            <a:r>
              <a:t>High-value customers can be segmented for targeted retention and service strategies.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7. Product &amp; Seller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Identifying concentration among products and sellers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Top Product Categories by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Business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Beleza_saude — ~R$1.259M</a:t>
            </a:r>
          </a:p>
          <a:p>
            <a:pPr>
              <a:spcAft>
                <a:spcPts val="900"/>
              </a:spcAft>
              <a:defRPr sz="1400"/>
            </a:pPr>
            <a:r>
              <a:t>Relogios_presentes — ~R$1.205M</a:t>
            </a:r>
          </a:p>
          <a:p>
            <a:pPr>
              <a:spcAft>
                <a:spcPts val="900"/>
              </a:spcAft>
              <a:defRPr sz="1400"/>
            </a:pPr>
            <a:r>
              <a:t>Cama_mesa_banho — ~R$1.038M</a:t>
            </a:r>
          </a:p>
          <a:p>
            <a:pPr>
              <a:spcAft>
                <a:spcPts val="900"/>
              </a:spcAft>
              <a:defRPr sz="1400"/>
            </a:pPr>
            <a:r>
              <a:t>Esporte_lazer — ~R$0.988M</a:t>
            </a:r>
          </a:p>
          <a:p>
            <a:pPr>
              <a:spcAft>
                <a:spcPts val="900"/>
              </a:spcAft>
              <a:defRPr sz="1400"/>
            </a:pPr>
            <a:r>
              <a:t>Informatica_acessorios — ~R$0.912M</a:t>
            </a:r>
          </a:p>
          <a:p>
            <a:pPr>
              <a:spcAft>
                <a:spcPts val="900"/>
              </a:spcAft>
              <a:defRPr sz="1400"/>
            </a:pPr>
            <a:r>
              <a:t>Moveis_decoracao — ~R$0.730M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Rank top sellers and products by cumulative sales.</a:t>
            </a:r>
          </a:p>
          <a:p>
            <a:pPr>
              <a:spcAft>
                <a:spcPts val="900"/>
              </a:spcAft>
              <a:defRPr sz="1400"/>
            </a:pPr>
            <a:r>
              <a:t>Use rankings for inventory, seller-account and assortment investigations.</a:t>
            </a:r>
          </a:p>
          <a:p>
            <a:pPr>
              <a:spcAft>
                <a:spcPts val="900"/>
              </a:spcAft>
              <a:defRPr sz="1400"/>
            </a:pPr>
            <a:r>
              <a:t>High sales does not equal high profit because product cost is not available.</a:t>
            </a:r>
          </a:p>
          <a:p>
            <a:pPr>
              <a:spcAft>
                <a:spcPts val="900"/>
              </a:spcAft>
              <a:defRPr sz="1400"/>
            </a:pPr>
            <a:r>
              <a:t>Prioritize deeper analysis of high-contribution categories and sellers.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8. Delivery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Operational reliability and geographic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Overall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State-level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Average delivery time: 12 days.</a:t>
            </a:r>
          </a:p>
          <a:p>
            <a:pPr>
              <a:spcAft>
                <a:spcPts val="900"/>
              </a:spcAft>
              <a:defRPr sz="1400"/>
            </a:pPr>
            <a:r>
              <a:t>Late delivery rate: 8.11%.</a:t>
            </a:r>
          </a:p>
          <a:p>
            <a:pPr>
              <a:spcAft>
                <a:spcPts val="900"/>
              </a:spcAft>
              <a:defRPr sz="1400"/>
            </a:pPr>
            <a:r>
              <a:t>Late = actual delivery after estimated delivery date.</a:t>
            </a:r>
          </a:p>
          <a:p>
            <a:pPr>
              <a:spcAft>
                <a:spcPts val="900"/>
              </a:spcAft>
              <a:defRPr sz="1400"/>
            </a:pPr>
            <a:r>
              <a:t>Only orders with both delivery dates were included.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Alagoas (AL) had the highest observed late-delivery percentage: 23.93%.</a:t>
            </a:r>
          </a:p>
          <a:p>
            <a:pPr>
              <a:spcAft>
                <a:spcPts val="900"/>
              </a:spcAft>
              <a:defRPr sz="1400"/>
            </a:pPr>
            <a:r>
              <a:t>Other high-rate states in the returned ranking included MA, PI, CE and SE.</a:t>
            </a:r>
          </a:p>
          <a:p>
            <a:pPr>
              <a:spcAft>
                <a:spcPts val="900"/>
              </a:spcAft>
              <a:defRPr sz="1400"/>
            </a:pPr>
            <a:r>
              <a:t>State percentages should be interpreted together with order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9. Customer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Review performance and delivery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Review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Delivery vs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Average review score: 4 / 5.</a:t>
            </a:r>
          </a:p>
          <a:p>
            <a:pPr>
              <a:spcAft>
                <a:spcPts val="900"/>
              </a:spcAft>
              <a:defRPr sz="1400"/>
            </a:pPr>
            <a:r>
              <a:t>14,575 orders received a low review score of 1 or 2.</a:t>
            </a:r>
          </a:p>
          <a:p>
            <a:pPr>
              <a:spcAft>
                <a:spcPts val="900"/>
              </a:spcAft>
              <a:defRPr sz="1400"/>
            </a:pPr>
            <a:r>
              <a:t>Low-rated orders are a meaningful segment for root-cause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On-time deliveries: average review score = 4.</a:t>
            </a:r>
          </a:p>
          <a:p>
            <a:pPr>
              <a:spcAft>
                <a:spcPts val="900"/>
              </a:spcAft>
              <a:defRPr sz="1400"/>
            </a:pPr>
            <a:r>
              <a:t>Late deliveries: average review score = 2.</a:t>
            </a:r>
          </a:p>
          <a:p>
            <a:pPr>
              <a:spcAft>
                <a:spcPts val="900"/>
              </a:spcAft>
              <a:defRPr sz="1400"/>
            </a:pPr>
            <a:r>
              <a:t>Observed reviews differ substantially between delivery groups.</a:t>
            </a:r>
          </a:p>
          <a:p>
            <a:pPr>
              <a:spcAft>
                <a:spcPts val="900"/>
              </a:spcAft>
              <a:defRPr sz="1400"/>
            </a:pPr>
            <a:r>
              <a:t>Further analysis should control for category, seller and state before treating delivery as the only driver.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10.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What the analysis tells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Sales are concentrated in a limited set of product categories, creating clear areas for assortment and inventory analysis.</a:t>
            </a:r>
          </a:p>
          <a:p>
            <a:pPr>
              <a:spcAft>
                <a:spcPts val="900"/>
              </a:spcAft>
              <a:defRPr sz="1600"/>
            </a:pPr>
            <a:r>
              <a:t>Customer retention is an important opportunity: 2,997 repeat customers compared with 96,096 unique customers.</a:t>
            </a:r>
          </a:p>
          <a:p>
            <a:pPr>
              <a:spcAft>
                <a:spcPts val="900"/>
              </a:spcAft>
              <a:defRPr sz="1600"/>
            </a:pPr>
            <a:r>
              <a:t>8.11% of delivered orders arrived after the estimated date, creating a measurable operational improvement area.</a:t>
            </a:r>
          </a:p>
          <a:p>
            <a:pPr>
              <a:spcAft>
                <a:spcPts val="900"/>
              </a:spcAft>
              <a:defRPr sz="1600"/>
            </a:pPr>
            <a:r>
              <a:t>Delivery performance varies materially by customer state; regional investigation can reveal operational bottlenecks.</a:t>
            </a:r>
          </a:p>
          <a:p>
            <a:pPr>
              <a:spcAft>
                <a:spcPts val="900"/>
              </a:spcAft>
              <a:defRPr sz="1600"/>
            </a:pPr>
            <a:r>
              <a:t>Customer satisfaction differs between late and on-time deliveries in the observed data.</a:t>
            </a:r>
          </a:p>
          <a:p>
            <a:pPr>
              <a:spcAft>
                <a:spcPts val="900"/>
              </a:spcAft>
              <a:defRPr sz="1600"/>
            </a:pPr>
            <a:r>
              <a:t>Management should combine sales, customer, seller and operational metrics rather than relying on one KPI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11. Business Solutions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Actions derived from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Potential Business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Trade-offs /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Investigate late-delivery hotspots by state, seller and category.</a:t>
            </a:r>
          </a:p>
          <a:p>
            <a:pPr>
              <a:spcAft>
                <a:spcPts val="900"/>
              </a:spcAft>
              <a:defRPr sz="1400"/>
            </a:pPr>
            <a:r>
              <a:t>Monitor seller-level late-delivery rates and delivery consistency.</a:t>
            </a:r>
          </a:p>
          <a:p>
            <a:pPr>
              <a:spcAft>
                <a:spcPts val="900"/>
              </a:spcAft>
              <a:defRPr sz="1400"/>
            </a:pPr>
            <a:r>
              <a:t>Create retention campaigns for repeat and high-value customers.</a:t>
            </a:r>
          </a:p>
          <a:p>
            <a:pPr>
              <a:spcAft>
                <a:spcPts val="900"/>
              </a:spcAft>
              <a:defRPr sz="1400"/>
            </a:pPr>
            <a:r>
              <a:t>Prioritize inventory and seller coverage for high-sales categories.</a:t>
            </a:r>
          </a:p>
          <a:p>
            <a:pPr>
              <a:spcAft>
                <a:spcPts val="900"/>
              </a:spcAft>
              <a:defRPr sz="1400"/>
            </a:pPr>
            <a:r>
              <a:t>Use low-rated orders for root-cause analysis across delivery, seller and 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Late-delivery % can overreact to states with very low order volume.</a:t>
            </a:r>
          </a:p>
          <a:p>
            <a:pPr>
              <a:spcAft>
                <a:spcPts val="900"/>
              </a:spcAft>
              <a:defRPr sz="1400"/>
            </a:pPr>
            <a:r>
              <a:t>Retention campaigns add cost and should be measured for incremental impact.</a:t>
            </a:r>
          </a:p>
          <a:p>
            <a:pPr>
              <a:spcAft>
                <a:spcPts val="900"/>
              </a:spcAft>
              <a:defRPr sz="1400"/>
            </a:pPr>
            <a:r>
              <a:t>Focusing on high-sales categories may reduce assortment breadth.</a:t>
            </a:r>
          </a:p>
          <a:p>
            <a:pPr>
              <a:spcAft>
                <a:spcPts val="900"/>
              </a:spcAft>
              <a:defRPr sz="1400"/>
            </a:pPr>
            <a:r>
              <a:t>Delivery improvement can increase logistics cost.</a:t>
            </a:r>
          </a:p>
          <a:p>
            <a:pPr>
              <a:spcAft>
                <a:spcPts val="900"/>
              </a:spcAft>
              <a:defRPr sz="1400"/>
            </a:pPr>
            <a:r>
              <a:t>Delivery vs review differences do not prove causation without further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12.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Keeping the analysis realistic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2016 and 2018 are partial periods.</a:t>
            </a:r>
          </a:p>
          <a:p>
            <a:pPr>
              <a:spcAft>
                <a:spcPts val="900"/>
              </a:spcAft>
              <a:defRPr sz="1400"/>
            </a:pPr>
            <a:r>
              <a:t>No product cost data, so true profit/margin cannot be calculated.</a:t>
            </a:r>
          </a:p>
          <a:p>
            <a:pPr>
              <a:spcAft>
                <a:spcPts val="900"/>
              </a:spcAft>
              <a:defRPr sz="1400"/>
            </a:pPr>
            <a:r>
              <a:t>Some products have missing category values.</a:t>
            </a:r>
          </a:p>
          <a:p>
            <a:pPr>
              <a:spcAft>
                <a:spcPts val="900"/>
              </a:spcAft>
              <a:defRPr sz="1400"/>
            </a:pPr>
            <a:r>
              <a:t>Review analysis does not establish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/>
            </a:pPr>
            <a:r>
              <a:t>Add payment-method and installment analysis.</a:t>
            </a:r>
          </a:p>
          <a:p>
            <a:pPr>
              <a:spcAft>
                <a:spcPts val="900"/>
              </a:spcAft>
              <a:defRPr sz="1400"/>
            </a:pPr>
            <a:r>
              <a:t>Build seller-level delivery and review dashboards.</a:t>
            </a:r>
          </a:p>
          <a:p>
            <a:pPr>
              <a:spcAft>
                <a:spcPts val="900"/>
              </a:spcAft>
              <a:defRPr sz="1400"/>
            </a:pPr>
            <a:r>
              <a:t>Compare Jan–Sep 2017 vs Jan–Sep 2018 for like-for-like growth.</a:t>
            </a:r>
          </a:p>
          <a:p>
            <a:pPr>
              <a:spcAft>
                <a:spcPts val="900"/>
              </a:spcAft>
              <a:defRPr sz="1400"/>
            </a:pPr>
            <a:r>
              <a:t>Analyze low-rated orders by category, state and seller.</a:t>
            </a:r>
          </a:p>
          <a:p>
            <a:pPr>
              <a:spcAft>
                <a:spcPts val="900"/>
              </a:spcAft>
              <a:defRPr sz="1400"/>
            </a:pPr>
            <a:r>
              <a:t>Build a Power BI dashboard from the SQL outputs.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From SQL queries to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Olist generated ~R$13.59M in product sales across 98,666 unique orders in the analyzed dataset.</a:t>
            </a:r>
          </a:p>
          <a:p>
            <a:pPr>
              <a:spcAft>
                <a:spcPts val="900"/>
              </a:spcAft>
              <a:defRPr sz="1800"/>
            </a:pPr>
            <a:r>
              <a:t>Sales concentration, customer retention and delivery performance emerged as key analytical areas.</a:t>
            </a:r>
          </a:p>
          <a:p>
            <a:pPr>
              <a:spcAft>
                <a:spcPts val="900"/>
              </a:spcAft>
              <a:defRPr sz="1800"/>
            </a:pPr>
            <a:r>
              <a:t>Average delivery time was 12 days and 8.11% of delivered orders were late relative to the estimated date.</a:t>
            </a:r>
          </a:p>
          <a:p>
            <a:pPr>
              <a:spcAft>
                <a:spcPts val="900"/>
              </a:spcAft>
              <a:defRPr sz="1800"/>
            </a:pPr>
            <a:r>
              <a:t>Average review score was 4/5; late deliveries had a lower observed average review score than on-time deliveries.</a:t>
            </a:r>
          </a:p>
          <a:p>
            <a:pPr>
              <a:spcAft>
                <a:spcPts val="900"/>
              </a:spcAft>
              <a:defRPr sz="1800"/>
            </a:pPr>
            <a:r>
              <a:t>The project demonstrates an end-to-end workflow: Business Question → KPI → SQL → Insight → Business 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800FC-9CFB-A3F9-D566-7FBD5FC6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94" y="486561"/>
            <a:ext cx="6554859" cy="13675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8C943F-6023-32AD-57F9-8CCFCFEBB06B}"/>
              </a:ext>
            </a:extLst>
          </p:cNvPr>
          <p:cNvSpPr txBox="1"/>
          <p:nvPr/>
        </p:nvSpPr>
        <p:spPr>
          <a:xfrm>
            <a:off x="0" y="36911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F89242-924E-E3F1-E0E4-8D8372F8E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17"/>
          <a:stretch>
            <a:fillRect/>
          </a:stretch>
        </p:blipFill>
        <p:spPr>
          <a:xfrm>
            <a:off x="359394" y="2002714"/>
            <a:ext cx="8854885" cy="47589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745121-50C4-9376-9894-1AFAFFD88919}"/>
              </a:ext>
            </a:extLst>
          </p:cNvPr>
          <p:cNvSpPr txBox="1"/>
          <p:nvPr/>
        </p:nvSpPr>
        <p:spPr>
          <a:xfrm>
            <a:off x="0" y="200271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76C896-EA84-7E83-1556-3510679A99A8}"/>
              </a:ext>
            </a:extLst>
          </p:cNvPr>
          <p:cNvSpPr txBox="1"/>
          <p:nvPr/>
        </p:nvSpPr>
        <p:spPr>
          <a:xfrm>
            <a:off x="0" y="-58938"/>
            <a:ext cx="52263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Case 1: </a:t>
            </a:r>
            <a:r>
              <a:rPr lang="en-IN" sz="2400" dirty="0" err="1"/>
              <a:t>SalesPerformance</a:t>
            </a:r>
            <a:r>
              <a:rPr lang="en-IN" sz="2400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110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9120BB-3217-85C0-E51E-7D4F3D1EFD98}"/>
              </a:ext>
            </a:extLst>
          </p:cNvPr>
          <p:cNvSpPr txBox="1"/>
          <p:nvPr/>
        </p:nvSpPr>
        <p:spPr>
          <a:xfrm>
            <a:off x="0" y="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C0A71-1B30-81D8-42A5-0EFBF0D6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94" y="75717"/>
            <a:ext cx="6690940" cy="1486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D8B996-28B3-8F29-6B89-A56EA828DDE6}"/>
              </a:ext>
            </a:extLst>
          </p:cNvPr>
          <p:cNvSpPr txBox="1"/>
          <p:nvPr/>
        </p:nvSpPr>
        <p:spPr>
          <a:xfrm>
            <a:off x="0" y="164413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E6908E-4A60-3203-1EF8-2CF183179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4" y="1644134"/>
            <a:ext cx="6820491" cy="14098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9747E6-5E1D-FF18-BC33-A7F534A55A79}"/>
              </a:ext>
            </a:extLst>
          </p:cNvPr>
          <p:cNvSpPr txBox="1"/>
          <p:nvPr/>
        </p:nvSpPr>
        <p:spPr>
          <a:xfrm>
            <a:off x="0" y="317942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68AF9B-5413-7E48-EB02-51D310907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94" y="3213201"/>
            <a:ext cx="10341236" cy="28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13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1997A-4B20-18A5-47EC-1CDD4386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80" y="133536"/>
            <a:ext cx="8617223" cy="2500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5046B1-8A4F-4CF0-97EF-941FEE9E9C8C}"/>
              </a:ext>
            </a:extLst>
          </p:cNvPr>
          <p:cNvSpPr txBox="1"/>
          <p:nvPr/>
        </p:nvSpPr>
        <p:spPr>
          <a:xfrm>
            <a:off x="0" y="828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61E73-32D2-53CB-D5D3-0E295E790E30}"/>
              </a:ext>
            </a:extLst>
          </p:cNvPr>
          <p:cNvSpPr txBox="1"/>
          <p:nvPr/>
        </p:nvSpPr>
        <p:spPr>
          <a:xfrm>
            <a:off x="13991" y="283547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A81F47-A610-C905-1F4D-08B007014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49599"/>
          <a:stretch>
            <a:fillRect/>
          </a:stretch>
        </p:blipFill>
        <p:spPr>
          <a:xfrm>
            <a:off x="8727948" y="2835479"/>
            <a:ext cx="3087147" cy="37470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3D2E3F-E717-261C-AD89-5EA1AF643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94" y="2835479"/>
            <a:ext cx="8009160" cy="37470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C719E7-AB77-7174-F353-E55386EC0FBF}"/>
              </a:ext>
            </a:extLst>
          </p:cNvPr>
          <p:cNvSpPr txBox="1"/>
          <p:nvPr/>
        </p:nvSpPr>
        <p:spPr>
          <a:xfrm>
            <a:off x="9739618" y="2373976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 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375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586AB7-7A2F-DC4D-5138-02A3339F62BC}"/>
              </a:ext>
            </a:extLst>
          </p:cNvPr>
          <p:cNvSpPr txBox="1"/>
          <p:nvPr/>
        </p:nvSpPr>
        <p:spPr>
          <a:xfrm>
            <a:off x="0" y="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E995B6-3FFC-0C05-59D9-8B34A155BE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330" b="64366"/>
          <a:stretch>
            <a:fillRect/>
          </a:stretch>
        </p:blipFill>
        <p:spPr>
          <a:xfrm>
            <a:off x="359394" y="106080"/>
            <a:ext cx="7870206" cy="2207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A3E3E4-8956-8AAE-0E29-3037192C5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768" r="72476"/>
          <a:stretch>
            <a:fillRect/>
          </a:stretch>
        </p:blipFill>
        <p:spPr>
          <a:xfrm>
            <a:off x="8464492" y="285834"/>
            <a:ext cx="3061981" cy="35557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FC595C-7B0E-ADB8-3CD6-358C6C601C1D}"/>
              </a:ext>
            </a:extLst>
          </p:cNvPr>
          <p:cNvSpPr txBox="1"/>
          <p:nvPr/>
        </p:nvSpPr>
        <p:spPr>
          <a:xfrm>
            <a:off x="8464492" y="-78586"/>
            <a:ext cx="108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:8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86DDD5-A22C-60C2-474B-F0F12530C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4" y="2707925"/>
            <a:ext cx="7331075" cy="1272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E51D0F-69AE-2EF1-F87B-EEE3BF37825F}"/>
              </a:ext>
            </a:extLst>
          </p:cNvPr>
          <p:cNvSpPr txBox="1"/>
          <p:nvPr/>
        </p:nvSpPr>
        <p:spPr>
          <a:xfrm>
            <a:off x="-58723" y="2233543"/>
            <a:ext cx="35459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Case 2: Customer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01CE3-2EC6-F42F-8395-35AE38C3230F}"/>
              </a:ext>
            </a:extLst>
          </p:cNvPr>
          <p:cNvSpPr txBox="1"/>
          <p:nvPr/>
        </p:nvSpPr>
        <p:spPr>
          <a:xfrm>
            <a:off x="0" y="263517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49E731-9324-B043-0697-01F51420E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94" y="4106652"/>
            <a:ext cx="7584980" cy="25587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9EBC82-79C1-A6FF-4475-B206709A52EC}"/>
              </a:ext>
            </a:extLst>
          </p:cNvPr>
          <p:cNvSpPr txBox="1"/>
          <p:nvPr/>
        </p:nvSpPr>
        <p:spPr>
          <a:xfrm>
            <a:off x="0" y="400600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951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17D08-AED6-E94D-7BAB-4572B9FC5BF9}"/>
              </a:ext>
            </a:extLst>
          </p:cNvPr>
          <p:cNvSpPr txBox="1"/>
          <p:nvPr/>
        </p:nvSpPr>
        <p:spPr>
          <a:xfrm>
            <a:off x="0" y="41729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C31C4-326B-0FAD-9EC1-79A7E2E0D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843"/>
          <a:stretch>
            <a:fillRect/>
          </a:stretch>
        </p:blipFill>
        <p:spPr>
          <a:xfrm>
            <a:off x="359395" y="115409"/>
            <a:ext cx="8625214" cy="2998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3AFA53-F0CE-6385-E0C8-A6C1A7A3EBF3}"/>
              </a:ext>
            </a:extLst>
          </p:cNvPr>
          <p:cNvSpPr txBox="1"/>
          <p:nvPr/>
        </p:nvSpPr>
        <p:spPr>
          <a:xfrm>
            <a:off x="-67112" y="3114219"/>
            <a:ext cx="3087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Case 3 Product &amp; Seller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4B53C-FB15-76CA-DA0A-19372E9DC889}"/>
              </a:ext>
            </a:extLst>
          </p:cNvPr>
          <p:cNvSpPr txBox="1"/>
          <p:nvPr/>
        </p:nvSpPr>
        <p:spPr>
          <a:xfrm>
            <a:off x="0" y="357588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4E9F74-4E7E-7F06-DBF9-35891A326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5" y="3581326"/>
            <a:ext cx="8004429" cy="327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84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E7211-213F-2B0D-9917-97856EF23945}"/>
              </a:ext>
            </a:extLst>
          </p:cNvPr>
          <p:cNvSpPr txBox="1"/>
          <p:nvPr/>
        </p:nvSpPr>
        <p:spPr>
          <a:xfrm>
            <a:off x="0" y="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92625-D142-9F25-6801-27F98D6E1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93" y="73278"/>
            <a:ext cx="8675549" cy="34836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9B7F4E-FA8D-10BF-F37A-C2490658B9F1}"/>
              </a:ext>
            </a:extLst>
          </p:cNvPr>
          <p:cNvSpPr txBox="1"/>
          <p:nvPr/>
        </p:nvSpPr>
        <p:spPr>
          <a:xfrm>
            <a:off x="-25167" y="3630210"/>
            <a:ext cx="2085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Case 4 Delivery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BEAAC-EEB4-9367-5007-3891E9F8ADD7}"/>
              </a:ext>
            </a:extLst>
          </p:cNvPr>
          <p:cNvSpPr txBox="1"/>
          <p:nvPr/>
        </p:nvSpPr>
        <p:spPr>
          <a:xfrm>
            <a:off x="-25167" y="420116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903CC3-A49D-BE46-124C-E34D0F18A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4" y="4201166"/>
            <a:ext cx="9091819" cy="22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28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30C752-287F-EAC0-B46C-6347EDE3B6BC}"/>
              </a:ext>
            </a:extLst>
          </p:cNvPr>
          <p:cNvSpPr txBox="1"/>
          <p:nvPr/>
        </p:nvSpPr>
        <p:spPr>
          <a:xfrm>
            <a:off x="0" y="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289FA-8F66-3F83-0CB5-F1CF34FF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0" y="93395"/>
            <a:ext cx="7594681" cy="19535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6058EF-164A-7262-0648-650CD3FECB46}"/>
              </a:ext>
            </a:extLst>
          </p:cNvPr>
          <p:cNvSpPr txBox="1"/>
          <p:nvPr/>
        </p:nvSpPr>
        <p:spPr>
          <a:xfrm>
            <a:off x="0" y="225679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7FB1A-E6CB-0358-5E75-0BD03074C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28" y="2256794"/>
            <a:ext cx="8943997" cy="450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94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CEFC9-63D1-B099-9668-C077EA4C9058}"/>
              </a:ext>
            </a:extLst>
          </p:cNvPr>
          <p:cNvSpPr txBox="1"/>
          <p:nvPr/>
        </p:nvSpPr>
        <p:spPr>
          <a:xfrm>
            <a:off x="0" y="16778"/>
            <a:ext cx="3576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Case 5 Satisfaction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201A3-7400-2DBC-7BA2-C4116C7E7A09}"/>
              </a:ext>
            </a:extLst>
          </p:cNvPr>
          <p:cNvSpPr txBox="1"/>
          <p:nvPr/>
        </p:nvSpPr>
        <p:spPr>
          <a:xfrm>
            <a:off x="21639" y="47844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8C9E2-7A91-8A2D-79A2-B63F7E60E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3" y="501650"/>
            <a:ext cx="7513971" cy="13940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904707-A7D2-3265-A8A4-AD2CCD04F0A0}"/>
              </a:ext>
            </a:extLst>
          </p:cNvPr>
          <p:cNvSpPr txBox="1"/>
          <p:nvPr/>
        </p:nvSpPr>
        <p:spPr>
          <a:xfrm>
            <a:off x="-16778" y="196805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70AC1-3251-E05D-8A16-AF6578BC7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73" y="1964262"/>
            <a:ext cx="7320061" cy="13940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81240D-45F3-CF82-ED23-E2B59E7A4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69" y="3563542"/>
            <a:ext cx="7216765" cy="32944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4C7B28-B945-1F15-6502-6AF206EAF1BF}"/>
              </a:ext>
            </a:extLst>
          </p:cNvPr>
          <p:cNvSpPr txBox="1"/>
          <p:nvPr/>
        </p:nvSpPr>
        <p:spPr>
          <a:xfrm>
            <a:off x="-21621" y="349520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06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</TotalTime>
  <Words>1169</Words>
  <Application>Microsoft Office PowerPoint</Application>
  <PresentationFormat>Widescreen</PresentationFormat>
  <Paragraphs>170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Sahil Singh Rawat</dc:creator>
  <cp:keywords/>
  <dc:description>generated using python-pptx</dc:description>
  <cp:lastModifiedBy>Sahil Singh Rawat</cp:lastModifiedBy>
  <cp:revision>2</cp:revision>
  <dcterms:created xsi:type="dcterms:W3CDTF">2013-01-27T09:14:16Z</dcterms:created>
  <dcterms:modified xsi:type="dcterms:W3CDTF">2026-09-20T17:02:38Z</dcterms:modified>
  <cp:category/>
</cp:coreProperties>
</file>